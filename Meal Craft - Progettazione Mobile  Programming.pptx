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SemiBold" panose="000007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d4f38e935_0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d4f38e935_0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d4f38e935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d4f38e935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d4f38e935_0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d4f38e935_0_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d4f38e935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d4f38e935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d4f38e935_0_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d4f38e935_0_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d4f38e935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d4f38e935_0_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d4f38e935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d4f38e935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7625" y="0"/>
            <a:ext cx="12287250" cy="6863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 descr="rendi questa slide bella ed elegant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83593"/>
            <a:ext cx="3486150" cy="364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083593"/>
            <a:ext cx="3486150" cy="364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083593"/>
            <a:ext cx="3486150" cy="364331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923925" y="3083718"/>
            <a:ext cx="294036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Healthy Living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923925" y="3626643"/>
            <a:ext cx="2800350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Pianificazione di regimi alimentari definiti con consultazione costante della dispensa per garantire la continuità del piano.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4695825" y="3083718"/>
            <a:ext cx="2940367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Family Management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4695825" y="4026693"/>
            <a:ext cx="2800350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Organizzazione centrale degli acquisti e dei pasti per nuclei familiari, ottimizzando la lista della spesa e riducendo gli sprechi.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467725" y="3083718"/>
            <a:ext cx="294036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Digital Cookbook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467725" y="3626643"/>
            <a:ext cx="2800350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Accesso istantaneo ad un ricettario vasto per consultare procedimenti o identificare ingredienti mancanti istantaneamente.</a:t>
            </a:r>
            <a:endParaRPr/>
          </a:p>
        </p:txBody>
      </p:sp>
      <p:pic>
        <p:nvPicPr>
          <p:cNvPr id="104" name="Google Shape;10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464593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46459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46459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09625" y="581025"/>
            <a:ext cx="1134141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SCENARI D'UTILIZZO CORE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81025" y="581025"/>
            <a:ext cx="9525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rendimi questa slide bella ed elegante con queste due fot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7" descr="rendi la slide più bella ed elegante con questa immagin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8" descr="rendi questa slide bella ed elegante con queste due fot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/>
          <p:nvPr/>
        </p:nvSpPr>
        <p:spPr>
          <a:xfrm>
            <a:off x="581025" y="581025"/>
            <a:ext cx="954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809625" y="581025"/>
            <a:ext cx="1134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PLANNER &amp; DIARIO ALIMENTARE</a:t>
            </a:r>
            <a:endParaRPr sz="300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581025" y="1524000"/>
            <a:ext cx="5086500" cy="4000500"/>
          </a:xfrm>
          <a:prstGeom prst="roundRect">
            <a:avLst>
              <a:gd name="adj" fmla="val 4761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962025" y="2571750"/>
            <a:ext cx="43242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Architettura Slots</a:t>
            </a:r>
            <a:endParaRPr sz="2400" b="1">
              <a:solidFill>
                <a:srgbClr val="11CAA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962025" y="3143250"/>
            <a:ext cx="43242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Mappatura granulare in 4 slot:</a:t>
            </a:r>
            <a:endParaRPr sz="1450" b="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20675" algn="l" rtl="0">
              <a:spcBef>
                <a:spcPts val="1125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Colazione, Pranzo, Cena, Spuntini.</a:t>
            </a:r>
            <a:endParaRPr sz="1450" b="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Gestione </a:t>
            </a:r>
            <a:r>
              <a:rPr lang="en-US" sz="1450" b="1">
                <a:solidFill>
                  <a:srgbClr val="11CAA0"/>
                </a:solidFill>
                <a:latin typeface="Inter"/>
                <a:ea typeface="Inter"/>
                <a:cs typeface="Inter"/>
                <a:sym typeface="Inter"/>
              </a:rPr>
              <a:t>instanceId</a:t>
            </a: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univoci.</a:t>
            </a:r>
            <a:endParaRPr sz="1450" b="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Duplicazione senza collisioni di chiavi.</a:t>
            </a:r>
            <a:endParaRPr sz="1450" b="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6524625" y="1524000"/>
            <a:ext cx="5086500" cy="4000500"/>
          </a:xfrm>
          <a:prstGeom prst="roundRect">
            <a:avLst>
              <a:gd name="adj" fmla="val 4761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6905625" y="2571750"/>
            <a:ext cx="43242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Navigazione Temporale</a:t>
            </a:r>
            <a:endParaRPr sz="2400" b="1">
              <a:solidFill>
                <a:srgbClr val="11CAA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6905625" y="3143250"/>
            <a:ext cx="4324200" cy="19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Controllo dinamico del tempo:</a:t>
            </a:r>
            <a:endParaRPr sz="1450" b="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20675" algn="l" rtl="0">
              <a:spcBef>
                <a:spcPts val="1125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Selettore settimanale orizzontale.</a:t>
            </a:r>
            <a:endParaRPr sz="1450" b="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Integrazione con </a:t>
            </a:r>
            <a:r>
              <a:rPr lang="en-US" sz="1450" b="0" i="1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react-native-calendars</a:t>
            </a: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450" b="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1450"/>
              <a:buFont typeface="Inter"/>
              <a:buChar char="●"/>
            </a:pPr>
            <a:r>
              <a:rPr lang="en-US" sz="1450" b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Salti temporali arbitrari nel piano.</a:t>
            </a:r>
            <a:endParaRPr sz="1450" b="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0" descr="rendi questa slide più bella ed elegante con questa immagin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/>
        </p:nvSpPr>
        <p:spPr>
          <a:xfrm>
            <a:off x="809625" y="581025"/>
            <a:ext cx="1134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SMART SOURCING ALGORITHM</a:t>
            </a:r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581025" y="581025"/>
            <a:ext cx="954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2" name="Google Shape;152;p21"/>
          <p:cNvGrpSpPr/>
          <p:nvPr/>
        </p:nvGrpSpPr>
        <p:grpSpPr>
          <a:xfrm>
            <a:off x="581025" y="1524000"/>
            <a:ext cx="11030100" cy="4000500"/>
            <a:chOff x="581025" y="1524000"/>
            <a:chExt cx="11030100" cy="4000500"/>
          </a:xfrm>
        </p:grpSpPr>
        <p:sp>
          <p:nvSpPr>
            <p:cNvPr id="153" name="Google Shape;153;p21"/>
            <p:cNvSpPr/>
            <p:nvPr/>
          </p:nvSpPr>
          <p:spPr>
            <a:xfrm>
              <a:off x="581025" y="1524000"/>
              <a:ext cx="5086500" cy="4000500"/>
            </a:xfrm>
            <a:prstGeom prst="roundRect">
              <a:avLst>
                <a:gd name="adj" fmla="val 4761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1"/>
            <p:cNvSpPr txBox="1"/>
            <p:nvPr/>
          </p:nvSpPr>
          <p:spPr>
            <a:xfrm>
              <a:off x="581025" y="1524000"/>
              <a:ext cx="50865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0" tIns="381000" rIns="381000" bIns="3810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0" b="1">
                  <a:solidFill>
                    <a:srgbClr val="11CAA0"/>
                  </a:solidFill>
                  <a:latin typeface="Poppins"/>
                  <a:ea typeface="Poppins"/>
                  <a:cs typeface="Poppins"/>
                  <a:sym typeface="Poppins"/>
                </a:rPr>
                <a:t>100%</a:t>
              </a:r>
              <a:endParaRPr sz="11000" b="1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AUTOMAZIONE LISTA SPESA</a:t>
              </a:r>
              <a:endParaRPr sz="1800" b="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55" name="Google Shape;155;p21"/>
            <p:cNvSpPr/>
            <p:nvPr/>
          </p:nvSpPr>
          <p:spPr>
            <a:xfrm>
              <a:off x="6524625" y="1524000"/>
              <a:ext cx="5086500" cy="4000500"/>
            </a:xfrm>
            <a:prstGeom prst="roundRect">
              <a:avLst>
                <a:gd name="adj" fmla="val 4761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21"/>
            <p:cNvGrpSpPr/>
            <p:nvPr/>
          </p:nvGrpSpPr>
          <p:grpSpPr>
            <a:xfrm>
              <a:off x="6905625" y="2571750"/>
              <a:ext cx="4324200" cy="2571750"/>
              <a:chOff x="6905625" y="2571750"/>
              <a:chExt cx="4324200" cy="2571750"/>
            </a:xfrm>
          </p:grpSpPr>
          <p:sp>
            <p:nvSpPr>
              <p:cNvPr id="158" name="Google Shape;158;p21"/>
              <p:cNvSpPr txBox="1"/>
              <p:nvPr/>
            </p:nvSpPr>
            <p:spPr>
              <a:xfrm>
                <a:off x="6905625" y="2571750"/>
                <a:ext cx="4324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>
                    <a:solidFill>
                      <a:srgbClr val="11CAA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Analisi Dinamica</a:t>
                </a:r>
                <a:endParaRPr sz="2400" b="1">
                  <a:solidFill>
                    <a:srgbClr val="11CAA0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59" name="Google Shape;159;p21"/>
              <p:cNvSpPr txBox="1"/>
              <p:nvPr/>
            </p:nvSpPr>
            <p:spPr>
              <a:xfrm>
                <a:off x="6905625" y="3048000"/>
                <a:ext cx="43242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Integrazione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avanzata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Planner-Shopping: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all'aggiunta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di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una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ricetta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, il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sistema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calcola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i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grammi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necessari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400" b="0" dirty="0" err="1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tramite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US" sz="1400" b="1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Regex Normalization</a:t>
                </a:r>
                <a:r>
                  <a:rPr lang="en-US" sz="1400" b="0" dirty="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sz="1400" b="0" dirty="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" name="Google Shape;160;p21"/>
              <p:cNvSpPr/>
              <p:nvPr/>
            </p:nvSpPr>
            <p:spPr>
              <a:xfrm>
                <a:off x="6905625" y="4191000"/>
                <a:ext cx="43242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0F172A"/>
              </a:solidFill>
              <a:ln w="9525" cap="flat" cmpd="sng">
                <a:solidFill>
                  <a:srgbClr val="3341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1"/>
              <p:cNvSpPr txBox="1"/>
              <p:nvPr/>
            </p:nvSpPr>
            <p:spPr>
              <a:xfrm>
                <a:off x="7096125" y="4191000"/>
                <a:ext cx="39432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11CAA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Grammi Totali = Σ (QuantitàRicetta × PesoUnitarioIngr)</a:t>
                </a:r>
                <a:endParaRPr sz="1200">
                  <a:solidFill>
                    <a:srgbClr val="11CAA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/>
          <p:nvPr/>
        </p:nvSpPr>
        <p:spPr>
          <a:xfrm>
            <a:off x="581025" y="581025"/>
            <a:ext cx="9540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2"/>
          <p:cNvSpPr txBox="1"/>
          <p:nvPr/>
        </p:nvSpPr>
        <p:spPr>
          <a:xfrm>
            <a:off x="809625" y="581025"/>
            <a:ext cx="10572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ARCHITETTURA TECNICA</a:t>
            </a:r>
            <a:endParaRPr sz="300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0" name="Google Shape;170;p22"/>
          <p:cNvGrpSpPr/>
          <p:nvPr/>
        </p:nvGrpSpPr>
        <p:grpSpPr>
          <a:xfrm>
            <a:off x="581025" y="1524000"/>
            <a:ext cx="11030100" cy="4000500"/>
            <a:chOff x="581025" y="1524000"/>
            <a:chExt cx="11030100" cy="4000500"/>
          </a:xfrm>
        </p:grpSpPr>
        <p:sp>
          <p:nvSpPr>
            <p:cNvPr id="171" name="Google Shape;171;p22"/>
            <p:cNvSpPr/>
            <p:nvPr/>
          </p:nvSpPr>
          <p:spPr>
            <a:xfrm>
              <a:off x="581025" y="1524000"/>
              <a:ext cx="11030100" cy="4000500"/>
            </a:xfrm>
            <a:prstGeom prst="roundRect">
              <a:avLst>
                <a:gd name="adj" fmla="val 4761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2"/>
            <p:cNvSpPr txBox="1"/>
            <p:nvPr/>
          </p:nvSpPr>
          <p:spPr>
            <a:xfrm>
              <a:off x="962025" y="1905000"/>
              <a:ext cx="102681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11CAA0"/>
                  </a:solidFill>
                  <a:latin typeface="Poppins"/>
                  <a:ea typeface="Poppins"/>
                  <a:cs typeface="Poppins"/>
                  <a:sym typeface="Poppins"/>
                </a:rPr>
                <a:t>Separazione dei Livelli e Stato Globale</a:t>
              </a:r>
              <a:endParaRPr sz="2400" b="1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r>
                <a:rPr lang="en-US"/>
                <a:t> </a:t>
              </a:r>
              <a:r>
                <a:rPr lang="en-US" sz="1800" b="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Architettura Multi-Layer</a:t>
              </a:r>
              <a:r>
                <a:rPr lang="en-US"/>
                <a:t> </a:t>
              </a:r>
              <a:r>
                <a:rPr lang="en-US" sz="14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Disaccoppiamento netto tra logica di business, gestione dei dati e interfaccia utente per una manutenibilità superiore.</a:t>
              </a:r>
              <a:endParaRPr/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r>
                <a:rPr lang="en-US"/>
                <a:t> </a:t>
              </a:r>
              <a:r>
                <a:rPr lang="en-US" sz="1800" b="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Gestione Globale dello Stato</a:t>
              </a:r>
              <a:r>
                <a:rPr lang="en-US"/>
                <a:t> </a:t>
              </a:r>
              <a:r>
                <a:rPr lang="en-US" sz="14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Sincronizzazione reattiva tra Planner, Ricettario e Lista Spesa tramite un unico "Single Source of Truth".</a:t>
              </a:r>
              <a:endParaRPr/>
            </a:p>
            <a:p>
              <a:pPr marL="0" lvl="0" indent="0" algn="l" rtl="0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r>
                <a:rPr lang="en-US"/>
                <a:t> </a:t>
              </a:r>
              <a:r>
                <a:rPr lang="en-US" sz="1800" b="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Efficienza Computazionale</a:t>
              </a:r>
              <a:r>
                <a:rPr lang="en-US"/>
                <a:t> </a:t>
              </a:r>
              <a:r>
                <a:rPr lang="en-US" sz="14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Ottimizzazione dei cicli di render e minimizzazione del carico sulla memoria per performance costanti.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19350"/>
            <a:ext cx="348615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419350"/>
            <a:ext cx="348615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419350"/>
            <a:ext cx="348615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3"/>
          <p:cNvSpPr txBox="1"/>
          <p:nvPr/>
        </p:nvSpPr>
        <p:spPr>
          <a:xfrm>
            <a:off x="923925" y="3419475"/>
            <a:ext cx="294036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React Native &amp; Expo</a:t>
            </a:r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923925" y="3962400"/>
            <a:ext cx="280035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Sviluppo cross-platform a 60 FPS con astrazioni native per iOS (UICollectionView) e Android (RecyclerView).</a:t>
            </a:r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4695825" y="3419475"/>
            <a:ext cx="294036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Expo Router</a:t>
            </a:r>
            <a:endParaRPr/>
          </a:p>
        </p:txBody>
      </p:sp>
      <p:sp>
        <p:nvSpPr>
          <p:cNvPr id="184" name="Google Shape;184;p23"/>
          <p:cNvSpPr txBox="1"/>
          <p:nvPr/>
        </p:nvSpPr>
        <p:spPr>
          <a:xfrm>
            <a:off x="4695825" y="3962400"/>
            <a:ext cx="280035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Paradigma File-Based Routing con parametri URL serializzati per una navigazione disaccoppiata e reattiva.</a:t>
            </a:r>
            <a:endParaRPr/>
          </a:p>
        </p:txBody>
      </p:sp>
      <p:sp>
        <p:nvSpPr>
          <p:cNvPr id="185" name="Google Shape;185;p23"/>
          <p:cNvSpPr txBox="1"/>
          <p:nvPr/>
        </p:nvSpPr>
        <p:spPr>
          <a:xfrm>
            <a:off x="8467725" y="3419475"/>
            <a:ext cx="294036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AsyncStorage</a:t>
            </a:r>
            <a:endParaRPr/>
          </a:p>
        </p:txBody>
      </p:sp>
      <p:sp>
        <p:nvSpPr>
          <p:cNvPr id="186" name="Google Shape;186;p23"/>
          <p:cNvSpPr txBox="1"/>
          <p:nvPr/>
        </p:nvSpPr>
        <p:spPr>
          <a:xfrm>
            <a:off x="8467725" y="3962400"/>
            <a:ext cx="2800350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Persistenza locale basata su Promise.all per un ripristino parallelo dei dati all'App Launch.</a:t>
            </a:r>
            <a:endParaRPr/>
          </a:p>
        </p:txBody>
      </p:sp>
      <p:pic>
        <p:nvPicPr>
          <p:cNvPr id="187" name="Google Shape;18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8003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8003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8003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/>
        </p:nvSpPr>
        <p:spPr>
          <a:xfrm>
            <a:off x="809625" y="581025"/>
            <a:ext cx="1134141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STACK TECNOLOGICO NATIVO</a:t>
            </a: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581025" y="581025"/>
            <a:ext cx="9525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4" descr="me la devi modificare in maniera più elegante togliendo quelle brutte icons di fian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5"/>
          <p:cNvSpPr/>
          <p:nvPr/>
        </p:nvSpPr>
        <p:spPr>
          <a:xfrm>
            <a:off x="581025" y="3905250"/>
            <a:ext cx="1102995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1773212" y="38290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4604221" y="38290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7435229" y="38290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10266238" y="382905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517605" y="4095750"/>
            <a:ext cx="2663614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V1.0 - Core Launch</a:t>
            </a:r>
            <a:endParaRPr/>
          </a:p>
        </p:txBody>
      </p:sp>
      <p:sp>
        <p:nvSpPr>
          <p:cNvPr id="208" name="Google Shape;208;p25"/>
          <p:cNvSpPr txBox="1"/>
          <p:nvPr/>
        </p:nvSpPr>
        <p:spPr>
          <a:xfrm>
            <a:off x="581025" y="5038725"/>
            <a:ext cx="25367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MVP basato su AsyncStorage e Context API globale.</a:t>
            </a:r>
            <a:endParaRPr/>
          </a:p>
        </p:txBody>
      </p:sp>
      <p:sp>
        <p:nvSpPr>
          <p:cNvPr id="209" name="Google Shape;209;p25"/>
          <p:cNvSpPr txBox="1"/>
          <p:nvPr/>
        </p:nvSpPr>
        <p:spPr>
          <a:xfrm>
            <a:off x="3348614" y="2628900"/>
            <a:ext cx="266361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V2.0 - SQL Engine</a:t>
            </a:r>
            <a:endParaRPr/>
          </a:p>
        </p:txBody>
      </p:sp>
      <p:sp>
        <p:nvSpPr>
          <p:cNvPr id="210" name="Google Shape;210;p25"/>
          <p:cNvSpPr txBox="1"/>
          <p:nvPr/>
        </p:nvSpPr>
        <p:spPr>
          <a:xfrm>
            <a:off x="3412033" y="3171825"/>
            <a:ext cx="25367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Migrazione a </a:t>
            </a:r>
            <a:r>
              <a:rPr lang="en-US" sz="1425" b="0" i="1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expo-sqlite</a:t>
            </a: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per query relazionali massive.</a:t>
            </a:r>
            <a:endParaRPr/>
          </a:p>
        </p:txBody>
      </p:sp>
      <p:sp>
        <p:nvSpPr>
          <p:cNvPr id="211" name="Google Shape;211;p25"/>
          <p:cNvSpPr txBox="1"/>
          <p:nvPr/>
        </p:nvSpPr>
        <p:spPr>
          <a:xfrm>
            <a:off x="6179622" y="4095750"/>
            <a:ext cx="2663614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V3.0 - QR Scanning</a:t>
            </a:r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6243042" y="5038725"/>
            <a:ext cx="25367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Integrazione hardware </a:t>
            </a:r>
            <a:r>
              <a:rPr lang="en-US" sz="1425" b="0" i="1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expo-camera</a:t>
            </a: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per identificazione prodotti.</a:t>
            </a:r>
            <a:endParaRPr/>
          </a:p>
        </p:txBody>
      </p:sp>
      <p:sp>
        <p:nvSpPr>
          <p:cNvPr id="213" name="Google Shape;213;p25"/>
          <p:cNvSpPr txBox="1"/>
          <p:nvPr/>
        </p:nvSpPr>
        <p:spPr>
          <a:xfrm>
            <a:off x="9010631" y="2628900"/>
            <a:ext cx="266361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1CAA0"/>
                </a:solidFill>
                <a:latin typeface="Poppins"/>
                <a:ea typeface="Poppins"/>
                <a:cs typeface="Poppins"/>
                <a:sym typeface="Poppins"/>
              </a:rPr>
              <a:t>V4.0 - Cloud Sync</a:t>
            </a:r>
            <a:endParaRPr/>
          </a:p>
        </p:txBody>
      </p:sp>
      <p:sp>
        <p:nvSpPr>
          <p:cNvPr id="214" name="Google Shape;214;p25"/>
          <p:cNvSpPr txBox="1"/>
          <p:nvPr/>
        </p:nvSpPr>
        <p:spPr>
          <a:xfrm>
            <a:off x="9074050" y="3171825"/>
            <a:ext cx="25367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Sincronizzazione multi-utente e backup su cloud.</a:t>
            </a: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809625" y="581025"/>
            <a:ext cx="1134141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ROADMAP SVILUPPI FUTURI</a:t>
            </a:r>
            <a:endParaRPr/>
          </a:p>
        </p:txBody>
      </p:sp>
      <p:sp>
        <p:nvSpPr>
          <p:cNvPr id="216" name="Google Shape;216;p25"/>
          <p:cNvSpPr/>
          <p:nvPr/>
        </p:nvSpPr>
        <p:spPr>
          <a:xfrm>
            <a:off x="581025" y="581025"/>
            <a:ext cx="95250" cy="571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6"/>
          <p:cNvSpPr txBox="1"/>
          <p:nvPr/>
        </p:nvSpPr>
        <p:spPr>
          <a:xfrm>
            <a:off x="2715577" y="1518195"/>
            <a:ext cx="6760845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dirty="0">
                <a:solidFill>
                  <a:srgbClr val="11CAA0"/>
                </a:solidFill>
                <a:latin typeface="Poppins"/>
                <a:cs typeface="Poppins"/>
                <a:sym typeface="Poppins"/>
              </a:rPr>
              <a:t>GRAZIE PER L’ATTENZIONE</a:t>
            </a:r>
            <a:endParaRPr dirty="0"/>
          </a:p>
        </p:txBody>
      </p:sp>
      <p:sp>
        <p:nvSpPr>
          <p:cNvPr id="223" name="Google Shape;223;p26"/>
          <p:cNvSpPr txBox="1"/>
          <p:nvPr/>
        </p:nvSpPr>
        <p:spPr>
          <a:xfrm>
            <a:off x="2876550" y="3424237"/>
            <a:ext cx="6438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L'architettura di Meal Craft è scalabile e pronta per il lancio.</a:t>
            </a:r>
            <a:endParaRPr/>
          </a:p>
        </p:txBody>
      </p:sp>
      <p:sp>
        <p:nvSpPr>
          <p:cNvPr id="224" name="Google Shape;224;p26"/>
          <p:cNvSpPr txBox="1"/>
          <p:nvPr/>
        </p:nvSpPr>
        <p:spPr>
          <a:xfrm>
            <a:off x="2876550" y="4338637"/>
            <a:ext cx="6438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Sviluppato dal Gruppo N. 8 | Università degli Studi di Salerno</a:t>
            </a:r>
            <a:endParaRPr/>
          </a:p>
        </p:txBody>
      </p:sp>
      <p:sp>
        <p:nvSpPr>
          <p:cNvPr id="225" name="Google Shape;225;p26"/>
          <p:cNvSpPr txBox="1"/>
          <p:nvPr/>
        </p:nvSpPr>
        <p:spPr>
          <a:xfrm>
            <a:off x="2876550" y="4662487"/>
            <a:ext cx="64389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www.mealcraft.app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363</Words>
  <Application>Microsoft Office PowerPoint</Application>
  <PresentationFormat>Widescreen</PresentationFormat>
  <Paragraphs>49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3" baseType="lpstr">
      <vt:lpstr>Poppins</vt:lpstr>
      <vt:lpstr>Poppins SemiBold</vt:lpstr>
      <vt:lpstr>Inter SemiBold</vt:lpstr>
      <vt:lpstr>Inter</vt:lpstr>
      <vt:lpstr>Courier New</vt:lpstr>
      <vt:lpstr>Calibri</vt:lpstr>
      <vt:lpstr>Material Icons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Andrea De Santis</dc:creator>
  <cp:lastModifiedBy>Andrea De Santis</cp:lastModifiedBy>
  <cp:revision>2</cp:revision>
  <dcterms:modified xsi:type="dcterms:W3CDTF">2026-06-01T09:10:03Z</dcterms:modified>
</cp:coreProperties>
</file>