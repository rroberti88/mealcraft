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d4f38e935_0_5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d4f38e935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d4f38e935_0_5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d4f38e935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d4f38e935_0_5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d4f38e935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d4f38e935_0_5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d4f38e935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d4f38e935_0_5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d4f38e935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d4f38e935_0_5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d4f38e935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d4f38e935_0_5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d4f38e935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9" Type="http://schemas.openxmlformats.org/officeDocument/2006/relationships/image" Target="../media/image11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" y="0"/>
            <a:ext cx="12287250" cy="68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ndi questa slide bella ed elegante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83593"/>
            <a:ext cx="3486150" cy="3643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83593"/>
            <a:ext cx="3486150" cy="3643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083593"/>
            <a:ext cx="3486150" cy="364331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923925" y="3083718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Healthy Living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923925" y="3626643"/>
            <a:ext cx="2800350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Pianificazione di regimi alimentari definiti con consultazione costante della dispensa per garantire la continuità del piano.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4695825" y="3083718"/>
            <a:ext cx="294036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Family Management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4695825" y="4026693"/>
            <a:ext cx="2800350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Organizzazione centrale degli acquisti e dei pasti per nuclei familiari, ottimizzando la lista della spesa e riducendo gli sprechi.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467725" y="3083718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Digital Cookbook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467725" y="3626643"/>
            <a:ext cx="2800350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Accesso istantaneo ad un ricettario vasto per consultare procedimenti o identificare ingredienti mancanti istantaneamente.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46459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5825" y="246459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7725" y="246459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09625" y="581025"/>
            <a:ext cx="1134141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SCENARI D'UTILIZZO CORE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81025" y="581025"/>
            <a:ext cx="9525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ndimi questa slide bella ed elegante con queste due foto"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ndi la slide più bella ed elegante con questa immagine"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ndi questa slide bella ed elegante con queste due foto"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/>
          <p:nvPr/>
        </p:nvSpPr>
        <p:spPr>
          <a:xfrm>
            <a:off x="581025" y="581025"/>
            <a:ext cx="954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809625" y="581025"/>
            <a:ext cx="1134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PLANNER &amp; DIARIO ALIMENTARE</a:t>
            </a:r>
            <a:endParaRPr b="1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581025" y="1524000"/>
            <a:ext cx="5086500" cy="4000500"/>
          </a:xfrm>
          <a:prstGeom prst="roundRect">
            <a:avLst>
              <a:gd fmla="val 476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962025" y="196342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7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grid_view</a:t>
            </a:r>
            <a:endParaRPr b="0" sz="3700">
              <a:solidFill>
                <a:srgbClr val="11CAA0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962025" y="2571750"/>
            <a:ext cx="4324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Architettura Slots</a:t>
            </a:r>
            <a:endParaRPr b="1" sz="2400">
              <a:solidFill>
                <a:srgbClr val="11CAA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962025" y="3143250"/>
            <a:ext cx="43242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Mappatura granulare in 4 slot:</a:t>
            </a:r>
            <a:endParaRPr b="0" sz="145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0675" lvl="0" marL="457200" rtl="0" algn="l">
              <a:spcBef>
                <a:spcPts val="1125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b="0" lang="en-US" sz="145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Colazione, Pranzo, Cena, Spuntini.</a:t>
            </a:r>
            <a:endParaRPr b="0" sz="145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0675" lvl="0" marL="457200" rtl="0" algn="l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b="0" lang="en-US" sz="145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Gestione </a:t>
            </a:r>
            <a:r>
              <a:rPr b="1" lang="en-US" sz="1450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instanceId</a:t>
            </a:r>
            <a:r>
              <a:rPr b="0" lang="en-US" sz="145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univoci.</a:t>
            </a:r>
            <a:endParaRPr b="0" sz="145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0675" lvl="0" marL="457200" rtl="0" algn="l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b="0" lang="en-US" sz="145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Duplicazione senza collisioni di chiavi.</a:t>
            </a:r>
            <a:endParaRPr b="0" sz="145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6524625" y="1524000"/>
            <a:ext cx="5086500" cy="4000500"/>
          </a:xfrm>
          <a:prstGeom prst="roundRect">
            <a:avLst>
              <a:gd fmla="val 476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6905625" y="196342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7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event</a:t>
            </a:r>
            <a:endParaRPr b="0" sz="3700">
              <a:solidFill>
                <a:srgbClr val="11CAA0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6905625" y="2571750"/>
            <a:ext cx="4324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Navigazione Temporale</a:t>
            </a:r>
            <a:endParaRPr b="1" sz="2400">
              <a:solidFill>
                <a:srgbClr val="11CAA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6905625" y="3143250"/>
            <a:ext cx="43242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Controllo dinamico del tempo:</a:t>
            </a:r>
            <a:endParaRPr b="0" sz="145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0675" lvl="0" marL="457200" rtl="0" algn="l">
              <a:spcBef>
                <a:spcPts val="1125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b="0" lang="en-US" sz="145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Selettore settimanale orizzontale.</a:t>
            </a:r>
            <a:endParaRPr b="0" sz="145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0675" lvl="0" marL="457200" rtl="0" algn="l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b="0" lang="en-US" sz="145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Integrazione con </a:t>
            </a:r>
            <a:r>
              <a:rPr b="0" i="1" lang="en-US" sz="145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react-native-calendars</a:t>
            </a:r>
            <a:r>
              <a:rPr b="0" lang="en-US" sz="145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45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0675" lvl="0" marL="457200" rtl="0" algn="l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b="0" lang="en-US" sz="145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Salti temporali arbitrari nel piano.</a:t>
            </a:r>
            <a:endParaRPr b="0" sz="145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ndi questa slide più bella ed elegante con questa immagine" id="144" name="Google Shape;1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809625" y="581025"/>
            <a:ext cx="1134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SMART SOURCING ALGORITHM</a:t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581025" y="581025"/>
            <a:ext cx="954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" name="Google Shape;152;p21"/>
          <p:cNvGrpSpPr/>
          <p:nvPr/>
        </p:nvGrpSpPr>
        <p:grpSpPr>
          <a:xfrm>
            <a:off x="581025" y="1524000"/>
            <a:ext cx="11030100" cy="4000500"/>
            <a:chOff x="581025" y="1524000"/>
            <a:chExt cx="11030100" cy="4000500"/>
          </a:xfrm>
        </p:grpSpPr>
        <p:sp>
          <p:nvSpPr>
            <p:cNvPr id="153" name="Google Shape;153;p21"/>
            <p:cNvSpPr/>
            <p:nvPr/>
          </p:nvSpPr>
          <p:spPr>
            <a:xfrm>
              <a:off x="581025" y="1524000"/>
              <a:ext cx="5086500" cy="4000500"/>
            </a:xfrm>
            <a:prstGeom prst="roundRect">
              <a:avLst>
                <a:gd fmla="val 476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581025" y="1524000"/>
              <a:ext cx="50865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0" lIns="381000" spcFirstLastPara="1" rIns="381000" wrap="square" tIns="381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0">
                  <a:solidFill>
                    <a:srgbClr val="11CAA0"/>
                  </a:solidFill>
                  <a:latin typeface="Poppins"/>
                  <a:ea typeface="Poppins"/>
                  <a:cs typeface="Poppins"/>
                  <a:sym typeface="Poppins"/>
                </a:rPr>
                <a:t>100%</a:t>
              </a:r>
              <a:endParaRPr b="1" sz="1100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AUTOMAZIONE LISTA SPESA</a:t>
              </a:r>
              <a:endParaRPr b="0" sz="18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55" name="Google Shape;155;p21"/>
            <p:cNvSpPr/>
            <p:nvPr/>
          </p:nvSpPr>
          <p:spPr>
            <a:xfrm>
              <a:off x="6524625" y="1524000"/>
              <a:ext cx="5086500" cy="4000500"/>
            </a:xfrm>
            <a:prstGeom prst="roundRect">
              <a:avLst>
                <a:gd fmla="val 476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21"/>
            <p:cNvGrpSpPr/>
            <p:nvPr/>
          </p:nvGrpSpPr>
          <p:grpSpPr>
            <a:xfrm>
              <a:off x="6905625" y="1963420"/>
              <a:ext cx="4324200" cy="3180080"/>
              <a:chOff x="6905625" y="1963420"/>
              <a:chExt cx="4324200" cy="3180080"/>
            </a:xfrm>
          </p:grpSpPr>
          <p:sp>
            <p:nvSpPr>
              <p:cNvPr id="157" name="Google Shape;157;p21"/>
              <p:cNvSpPr txBox="1"/>
              <p:nvPr/>
            </p:nvSpPr>
            <p:spPr>
              <a:xfrm>
                <a:off x="6905625" y="196342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700">
                    <a:solidFill>
                      <a:srgbClr val="11CAA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37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58" name="Google Shape;158;p21"/>
              <p:cNvSpPr txBox="1"/>
              <p:nvPr/>
            </p:nvSpPr>
            <p:spPr>
              <a:xfrm>
                <a:off x="6905625" y="2571750"/>
                <a:ext cx="4324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11CAA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Analisi Dinamica</a:t>
                </a:r>
                <a:endParaRPr b="1" sz="2400">
                  <a:solidFill>
                    <a:srgbClr val="11CAA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9" name="Google Shape;159;p21"/>
              <p:cNvSpPr txBox="1"/>
              <p:nvPr/>
            </p:nvSpPr>
            <p:spPr>
              <a:xfrm>
                <a:off x="6905625" y="3048000"/>
                <a:ext cx="43242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Integrazione avanzata Planner-Shopping: all'aggiunta di una ricetta, il sistema calcola i grammi necessari tramite </a:t>
                </a:r>
                <a:r>
                  <a:rPr b="1" lang="en-US" sz="14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Regex Normalization</a:t>
                </a:r>
                <a:r>
                  <a:rPr b="0" lang="en-US" sz="140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14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" name="Google Shape;160;p21"/>
              <p:cNvSpPr/>
              <p:nvPr/>
            </p:nvSpPr>
            <p:spPr>
              <a:xfrm>
                <a:off x="6905625" y="4191000"/>
                <a:ext cx="43242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21"/>
              <p:cNvSpPr txBox="1"/>
              <p:nvPr/>
            </p:nvSpPr>
            <p:spPr>
              <a:xfrm>
                <a:off x="7096125" y="4191000"/>
                <a:ext cx="39432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11CAA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Grammi Totali = Σ (QuantitàRicetta × PesoUnitarioIngr)</a:t>
                </a:r>
                <a:endParaRPr sz="1200">
                  <a:solidFill>
                    <a:srgbClr val="11CAA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/>
          <p:nvPr/>
        </p:nvSpPr>
        <p:spPr>
          <a:xfrm>
            <a:off x="581025" y="581025"/>
            <a:ext cx="954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809625" y="581025"/>
            <a:ext cx="10572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ARCHITETTURA TECNICA</a:t>
            </a:r>
            <a:endParaRPr b="1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0" name="Google Shape;170;p22"/>
          <p:cNvGrpSpPr/>
          <p:nvPr/>
        </p:nvGrpSpPr>
        <p:grpSpPr>
          <a:xfrm>
            <a:off x="581025" y="1524000"/>
            <a:ext cx="11030100" cy="4000500"/>
            <a:chOff x="581025" y="1524000"/>
            <a:chExt cx="11030100" cy="4000500"/>
          </a:xfrm>
        </p:grpSpPr>
        <p:sp>
          <p:nvSpPr>
            <p:cNvPr id="171" name="Google Shape;171;p22"/>
            <p:cNvSpPr/>
            <p:nvPr/>
          </p:nvSpPr>
          <p:spPr>
            <a:xfrm>
              <a:off x="581025" y="1524000"/>
              <a:ext cx="11030100" cy="4000500"/>
            </a:xfrm>
            <a:prstGeom prst="roundRect">
              <a:avLst>
                <a:gd fmla="val 476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2"/>
            <p:cNvSpPr txBox="1"/>
            <p:nvPr/>
          </p:nvSpPr>
          <p:spPr>
            <a:xfrm>
              <a:off x="962025" y="1905000"/>
              <a:ext cx="102681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1CAA0"/>
                  </a:solidFill>
                  <a:latin typeface="Poppins"/>
                  <a:ea typeface="Poppins"/>
                  <a:cs typeface="Poppins"/>
                  <a:sym typeface="Poppins"/>
                </a:rPr>
                <a:t>Separazione dei Livelli e Stato Globale</a:t>
              </a:r>
              <a:endParaRPr b="1" sz="2400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r>
                <a:rPr lang="en-US"/>
                <a:t> </a:t>
              </a:r>
              <a:r>
                <a:rPr b="0" lang="en-US" sz="1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Architettura Multi-Layer</a:t>
              </a:r>
              <a:r>
                <a:rPr lang="en-US"/>
                <a:t> </a:t>
              </a:r>
              <a:r>
                <a:rPr b="0"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Disaccoppiamento netto tra logica di business, gestione dei dati e interfaccia utente per una manutenibilità superiore.</a:t>
              </a:r>
              <a:endParaRPr/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r>
                <a:rPr lang="en-US"/>
                <a:t> </a:t>
              </a:r>
              <a:r>
                <a:rPr b="0" lang="en-US" sz="1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Gestione Globale dello Stato</a:t>
              </a:r>
              <a:r>
                <a:rPr lang="en-US"/>
                <a:t> </a:t>
              </a:r>
              <a:r>
                <a:rPr b="0"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Sincronizzazione reattiva tra Planner, Ricettario e Lista Spesa tramite un unico "Single Source of Truth".</a:t>
              </a:r>
              <a:endParaRPr/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r>
                <a:rPr lang="en-US"/>
                <a:t> </a:t>
              </a:r>
              <a:r>
                <a:rPr b="0" lang="en-US" sz="1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Efficienza Computazionale</a:t>
              </a:r>
              <a:r>
                <a:rPr lang="en-US"/>
                <a:t> </a:t>
              </a:r>
              <a:r>
                <a:rPr b="0"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Ottimizzazione dei cicli di render e minimizzazione del carico sulla memoria per performance costanti.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19350"/>
            <a:ext cx="348615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19350"/>
            <a:ext cx="348615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19350"/>
            <a:ext cx="348615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/>
        </p:nvSpPr>
        <p:spPr>
          <a:xfrm>
            <a:off x="923925" y="3419475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React Native &amp; Expo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923925" y="3962400"/>
            <a:ext cx="28003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Sviluppo cross-platform a 60 FPS con astrazioni native per iOS (UICollectionView) e Android (RecyclerView).</a:t>
            </a: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4695825" y="3419475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Expo Router</a:t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4695825" y="3962400"/>
            <a:ext cx="28003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Paradigma File-Based Routing con parametri URL serializzati per una navigazione disaccoppiata e reattiva.</a:t>
            </a:r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8467725" y="3419475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AsyncStorage</a:t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8467725" y="3962400"/>
            <a:ext cx="28003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Persistenza locale basata su Promise.all per un ripristino parallelo dei dati all'App Launch.</a:t>
            </a:r>
            <a:endParaRPr/>
          </a:p>
        </p:txBody>
      </p:sp>
      <p:pic>
        <p:nvPicPr>
          <p:cNvPr descr="image.png" id="187" name="Google Shape;18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800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5825" y="28003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7725" y="28003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809625" y="581025"/>
            <a:ext cx="1134141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STACK TECNOLOGICO NATIVO</a:t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581025" y="581025"/>
            <a:ext cx="9525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 la devi modificare in maniera più elegante togliendo quelle brutte icons di fianco" id="196" name="Google Shape;19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/>
          <p:nvPr/>
        </p:nvSpPr>
        <p:spPr>
          <a:xfrm>
            <a:off x="581025" y="3905250"/>
            <a:ext cx="1102995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1773212" y="38290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4604221" y="38290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7435229" y="38290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10266238" y="38290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517605" y="4095750"/>
            <a:ext cx="2663614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V1.0 - Core Launch</a:t>
            </a:r>
            <a:endParaRPr/>
          </a:p>
        </p:txBody>
      </p:sp>
      <p:sp>
        <p:nvSpPr>
          <p:cNvPr id="208" name="Google Shape;208;p25"/>
          <p:cNvSpPr txBox="1"/>
          <p:nvPr/>
        </p:nvSpPr>
        <p:spPr>
          <a:xfrm>
            <a:off x="581025" y="50387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MVP basato su AsyncStorage e Context API globale.</a:t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3348614" y="2628900"/>
            <a:ext cx="26636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V2.0 - SQL Engine</a:t>
            </a:r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3412033" y="31718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Migrazione a </a:t>
            </a:r>
            <a:r>
              <a:rPr b="0" i="1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expo-sqlite</a:t>
            </a:r>
            <a:r>
              <a:rPr b="0" i="0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per query relazionali massive.</a:t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6179622" y="4095750"/>
            <a:ext cx="2663614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V3.0 - QR Scanning</a:t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6243042" y="5038725"/>
            <a:ext cx="25367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Integrazione hardware </a:t>
            </a:r>
            <a:r>
              <a:rPr b="0" i="1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expo-camera</a:t>
            </a:r>
            <a:r>
              <a:rPr b="0" i="0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per identificazione prodotti.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9010631" y="2628900"/>
            <a:ext cx="26636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V4.0 - Cloud Sync</a:t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9074050" y="31718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Sincronizzazione multi-utente e backup su cloud.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809625" y="581025"/>
            <a:ext cx="1134141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ROADMAP SVILUPPI FUTURI</a:t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581025" y="581025"/>
            <a:ext cx="9525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6"/>
          <p:cNvSpPr txBox="1"/>
          <p:nvPr/>
        </p:nvSpPr>
        <p:spPr>
          <a:xfrm>
            <a:off x="2715577" y="1938337"/>
            <a:ext cx="676084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DOMANDE?</a:t>
            </a:r>
            <a:endParaRPr/>
          </a:p>
        </p:txBody>
      </p:sp>
      <p:sp>
        <p:nvSpPr>
          <p:cNvPr id="223" name="Google Shape;223;p26"/>
          <p:cNvSpPr txBox="1"/>
          <p:nvPr/>
        </p:nvSpPr>
        <p:spPr>
          <a:xfrm>
            <a:off x="2876550" y="3424237"/>
            <a:ext cx="643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L'architettura di Meal Craft è scalabile e pronta per il lancio.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2876550" y="4338637"/>
            <a:ext cx="643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Sviluppato dal Gruppo N. 8 | Università degli Studi di Salerno</a:t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2876550" y="4662487"/>
            <a:ext cx="6438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www.mealcraft.app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